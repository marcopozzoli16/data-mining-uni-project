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12" r:id="rId2"/>
    <p:sldId id="263" r:id="rId3"/>
    <p:sldId id="264" r:id="rId4"/>
    <p:sldId id="314" r:id="rId5"/>
    <p:sldId id="285" r:id="rId6"/>
    <p:sldId id="286" r:id="rId7"/>
    <p:sldId id="280" r:id="rId8"/>
    <p:sldId id="277" r:id="rId9"/>
    <p:sldId id="313" r:id="rId10"/>
    <p:sldId id="305" r:id="rId11"/>
    <p:sldId id="306" r:id="rId12"/>
    <p:sldId id="307" r:id="rId13"/>
  </p:sldIdLst>
  <p:sldSz cx="9144000" cy="6858000" type="screen4x3"/>
  <p:notesSz cx="6794500" cy="9931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16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F91D0B0B-8FA4-4288-8764-67E1BAF85688}" type="datetimeFigureOut">
              <a:rPr lang="it-IT"/>
              <a:pPr>
                <a:defRPr/>
              </a:pPr>
              <a:t>03/08/2024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79450" y="4716463"/>
            <a:ext cx="5435600" cy="4470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noProof="0"/>
              <a:t>Fare clic per modificare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432925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48100" y="9432925"/>
            <a:ext cx="2944813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9B24A64-7C51-487D-8F16-EA9115F60D7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F1E1DF-D279-4E9E-8D7D-C0595BE0ED56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929752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5C584F-FC9D-48BC-84B3-0811E5CF2E31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4043386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CDDFB3-FA59-4813-BA96-80F84A1040D5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899411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9C246D-1D08-41C6-85D2-137D44FDC744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55394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E84410-CBE8-4B38-94A2-A05690A09ABB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824024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981DA0-8C91-4661-A927-11F92E8CEF6A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584267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E2BD71-0A06-45A8-A448-7453B2AD0719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4182243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3F0BC-60C2-4610-A6F6-323A0A4858A1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28167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769F3B-F653-4447-B35E-AE0A762C0E19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706949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5D7D5A-9E18-4363-A04B-EA0442CD05C1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959720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7899C6-66B3-4495-AA2F-B7E6A1636809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711715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Fare clic per modificare lo stile del titolo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Fare clic per modificare gli stili del testo dello schema</a:t>
            </a:r>
          </a:p>
          <a:p>
            <a:pPr lvl="1"/>
            <a:r>
              <a:rPr lang="en-US" altLang="it-IT"/>
              <a:t>Secondo livello</a:t>
            </a:r>
          </a:p>
          <a:p>
            <a:pPr lvl="2"/>
            <a:r>
              <a:rPr lang="en-US" altLang="it-IT"/>
              <a:t>Terzo livello</a:t>
            </a:r>
          </a:p>
          <a:p>
            <a:pPr lvl="3"/>
            <a:r>
              <a:rPr lang="en-US" altLang="it-IT"/>
              <a:t>Quarto livello</a:t>
            </a:r>
          </a:p>
          <a:p>
            <a:pPr lvl="4"/>
            <a:r>
              <a:rPr lang="en-US" altLang="it-IT"/>
              <a:t>Quinto livello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553F0FA6-3B00-416F-A864-B1DB0C4011B3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tlearning.co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2857500"/>
            <a:ext cx="8383588" cy="1143000"/>
          </a:xfrm>
        </p:spPr>
        <p:txBody>
          <a:bodyPr/>
          <a:lstStyle/>
          <a:p>
            <a:pPr eaLnBrk="1" hangingPunct="1"/>
            <a:r>
              <a:rPr lang="en-US" altLang="it-IT" dirty="0" err="1"/>
              <a:t>Sezione</a:t>
            </a:r>
            <a:r>
              <a:rPr lang="en-US" altLang="it-IT" dirty="0"/>
              <a:t> Data Mining</a:t>
            </a:r>
          </a:p>
        </p:txBody>
      </p:sp>
    </p:spTree>
    <p:extLst>
      <p:ext uri="{BB962C8B-B14F-4D97-AF65-F5344CB8AC3E}">
        <p14:creationId xmlns:p14="http://schemas.microsoft.com/office/powerpoint/2010/main" val="3878609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45184"/>
            <a:ext cx="8641208" cy="761529"/>
          </a:xfrm>
        </p:spPr>
        <p:txBody>
          <a:bodyPr/>
          <a:lstStyle/>
          <a:p>
            <a:pPr eaLnBrk="1" hangingPunct="1"/>
            <a:r>
              <a:rPr lang="en-US" altLang="it-IT" dirty="0" err="1"/>
              <a:t>Esame</a:t>
            </a:r>
            <a:r>
              <a:rPr lang="en-US" altLang="it-IT" dirty="0"/>
              <a:t> DM: </a:t>
            </a:r>
            <a:r>
              <a:rPr lang="en-US" altLang="it-IT" dirty="0" err="1"/>
              <a:t>orale</a:t>
            </a:r>
            <a:r>
              <a:rPr lang="en-US" altLang="it-IT" dirty="0"/>
              <a:t> </a:t>
            </a:r>
            <a:r>
              <a:rPr lang="en-US" altLang="it-IT" dirty="0" err="1"/>
              <a:t>su</a:t>
            </a:r>
            <a:r>
              <a:rPr lang="en-US" altLang="it-IT" dirty="0"/>
              <a:t> </a:t>
            </a:r>
            <a:r>
              <a:rPr lang="it-IT" altLang="it-IT" dirty="0"/>
              <a:t>project work</a:t>
            </a:r>
            <a:endParaRPr lang="en-US" altLang="it-IT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1146175"/>
            <a:ext cx="9036496" cy="4524375"/>
          </a:xfrm>
        </p:spPr>
        <p:txBody>
          <a:bodyPr/>
          <a:lstStyle/>
          <a:p>
            <a:pPr eaLnBrk="1" hangingPunct="1"/>
            <a:r>
              <a:rPr lang="it-IT" altLang="it-IT" sz="2700" dirty="0"/>
              <a:t>Esame orale (teoria + discussione di 2 elaborati*, uno di DM uno di ML, svolti in coppia o tripletta). </a:t>
            </a:r>
          </a:p>
          <a:p>
            <a:pPr eaLnBrk="1" hangingPunct="1"/>
            <a:r>
              <a:rPr lang="it-IT" altLang="it-IT" sz="2700" b="1" dirty="0"/>
              <a:t>Elaborato DM:</a:t>
            </a:r>
            <a:r>
              <a:rPr lang="it-IT" altLang="it-IT" sz="2700" dirty="0"/>
              <a:t> Analizzare SIA una </a:t>
            </a:r>
            <a:r>
              <a:rPr lang="it-IT" altLang="it-IT" sz="2700" dirty="0">
                <a:solidFill>
                  <a:srgbClr val="FF0000"/>
                </a:solidFill>
              </a:rPr>
              <a:t>y quantitativa,</a:t>
            </a:r>
            <a:r>
              <a:rPr lang="it-IT" altLang="it-IT" sz="2700" dirty="0"/>
              <a:t> SIA y binaria</a:t>
            </a:r>
            <a:r>
              <a:rPr lang="it-IT" altLang="it-IT" sz="2700" dirty="0">
                <a:solidFill>
                  <a:srgbClr val="FF0000"/>
                </a:solidFill>
              </a:rPr>
              <a:t> </a:t>
            </a:r>
            <a:r>
              <a:rPr lang="it-IT" altLang="it-IT" sz="2700" dirty="0"/>
              <a:t> secondo le tecniche affrontate nella parte di DM</a:t>
            </a:r>
            <a:r>
              <a:rPr lang="it-IT" altLang="it-IT" sz="2700" dirty="0">
                <a:solidFill>
                  <a:srgbClr val="FF0000"/>
                </a:solidFill>
              </a:rPr>
              <a:t> </a:t>
            </a:r>
            <a:r>
              <a:rPr lang="it-IT" altLang="it-IT" sz="2700" dirty="0"/>
              <a:t> </a:t>
            </a:r>
          </a:p>
          <a:p>
            <a:pPr eaLnBrk="1" hangingPunct="1"/>
            <a:r>
              <a:rPr lang="it-IT" altLang="it-IT" sz="2700" dirty="0"/>
              <a:t>stampare gli output da portare all’orale per una discussione dei principali risultati</a:t>
            </a: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34925" y="5181600"/>
            <a:ext cx="8186857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2700" dirty="0"/>
              <a:t>*Il dataset per i due elaborati può essere lo stesso,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2700" dirty="0"/>
              <a:t>   e vanno scelti dai siti (slide successive)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it-IT" sz="23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it-IT" sz="2300" dirty="0"/>
              <a:t>   </a:t>
            </a:r>
          </a:p>
        </p:txBody>
      </p:sp>
      <p:sp>
        <p:nvSpPr>
          <p:cNvPr id="14341" name="Rettangolo 1"/>
          <p:cNvSpPr>
            <a:spLocks noChangeArrowheads="1"/>
          </p:cNvSpPr>
          <p:nvPr/>
        </p:nvSpPr>
        <p:spPr bwMode="auto">
          <a:xfrm>
            <a:off x="251520" y="6092925"/>
            <a:ext cx="880241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1800" dirty="0"/>
              <a:t>Scegliere dataset con abbastanza variabili (regolarsi con dimensione dei </a:t>
            </a:r>
            <a:r>
              <a:rPr lang="it-IT" altLang="it-IT" sz="1800" dirty="0" err="1"/>
              <a:t>files</a:t>
            </a:r>
            <a:r>
              <a:rPr lang="it-IT" altLang="it-IT" sz="1800" dirty="0"/>
              <a:t>) in cui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it-IT" altLang="it-IT" sz="1800" dirty="0"/>
              <a:t>abbia senso modellare sia una y continua che una y binaria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olo 1"/>
          <p:cNvSpPr>
            <a:spLocks noGrp="1"/>
          </p:cNvSpPr>
          <p:nvPr>
            <p:ph type="title"/>
          </p:nvPr>
        </p:nvSpPr>
        <p:spPr>
          <a:xfrm>
            <a:off x="468312" y="115888"/>
            <a:ext cx="8568183" cy="433387"/>
          </a:xfrm>
        </p:spPr>
        <p:txBody>
          <a:bodyPr/>
          <a:lstStyle/>
          <a:p>
            <a:pPr eaLnBrk="1" hangingPunct="1"/>
            <a:r>
              <a:rPr lang="it-IT" altLang="it-IT" dirty="0"/>
              <a:t>Dettaglio project work DM</a:t>
            </a:r>
          </a:p>
        </p:txBody>
      </p:sp>
      <p:sp>
        <p:nvSpPr>
          <p:cNvPr id="17411" name="Segnaposto contenuto 2"/>
          <p:cNvSpPr>
            <a:spLocks noGrp="1"/>
          </p:cNvSpPr>
          <p:nvPr>
            <p:ph idx="1"/>
          </p:nvPr>
        </p:nvSpPr>
        <p:spPr>
          <a:xfrm>
            <a:off x="0" y="1192836"/>
            <a:ext cx="9159875" cy="4524375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it-IT" altLang="it-IT" sz="2400" dirty="0">
                <a:solidFill>
                  <a:srgbClr val="FF0000"/>
                </a:solidFill>
              </a:rPr>
              <a:t>1a) Costruzione di un modello lineare robusto,</a:t>
            </a:r>
            <a:r>
              <a:rPr lang="it-IT" altLang="en-US" sz="2400" dirty="0">
                <a:solidFill>
                  <a:srgbClr val="FF0000"/>
                </a:solidFill>
              </a:rPr>
              <a:t> analisi </a:t>
            </a:r>
            <a:r>
              <a:rPr lang="it-IT" altLang="en-US" sz="2400" b="1" dirty="0">
                <a:solidFill>
                  <a:srgbClr val="FF0000"/>
                </a:solidFill>
              </a:rPr>
              <a:t>target quantitativo </a:t>
            </a:r>
            <a:r>
              <a:rPr lang="it-IT" altLang="en-US" sz="2400" dirty="0"/>
              <a:t>(analisi descrittive, trasformazioni, diagnostiche, model </a:t>
            </a:r>
            <a:r>
              <a:rPr lang="it-IT" altLang="en-US" sz="2400" dirty="0" err="1"/>
              <a:t>selection</a:t>
            </a:r>
            <a:r>
              <a:rPr lang="it-IT" altLang="en-US" sz="2400" dirty="0"/>
              <a:t>, </a:t>
            </a:r>
            <a:r>
              <a:rPr lang="it-IT" altLang="en-US" sz="2400" dirty="0" err="1"/>
              <a:t>heteroskedasticità</a:t>
            </a:r>
            <a:r>
              <a:rPr lang="it-IT" altLang="en-US" sz="2400" dirty="0"/>
              <a:t>,...... fino alla costruzione di un modello robusto).</a:t>
            </a:r>
          </a:p>
        </p:txBody>
      </p:sp>
      <p:sp>
        <p:nvSpPr>
          <p:cNvPr id="17412" name="Rettangolo 3"/>
          <p:cNvSpPr>
            <a:spLocks noChangeArrowheads="1"/>
          </p:cNvSpPr>
          <p:nvPr/>
        </p:nvSpPr>
        <p:spPr bwMode="auto">
          <a:xfrm>
            <a:off x="6898" y="2852936"/>
            <a:ext cx="8567738" cy="420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it-IT" sz="1800" b="1" dirty="0">
                <a:latin typeface="Times New Roman" panose="02020603050405020304" pitchFamily="18" charset="0"/>
              </a:rPr>
              <a:t>-Missing data, </a:t>
            </a:r>
            <a:r>
              <a:rPr lang="en-US" altLang="it-IT" sz="1800" b="1" dirty="0" err="1">
                <a:latin typeface="Times New Roman" panose="02020603050405020304" pitchFamily="18" charset="0"/>
              </a:rPr>
              <a:t>Analisi</a:t>
            </a:r>
            <a:r>
              <a:rPr lang="en-US" altLang="it-IT" sz="1800" b="1" dirty="0">
                <a:latin typeface="Times New Roman" panose="02020603050405020304" pitchFamily="18" charset="0"/>
              </a:rPr>
              <a:t> </a:t>
            </a:r>
            <a:r>
              <a:rPr lang="en-US" altLang="it-IT" sz="1800" b="1" dirty="0" err="1">
                <a:latin typeface="Times New Roman" panose="02020603050405020304" pitchFamily="18" charset="0"/>
              </a:rPr>
              <a:t>collinearità</a:t>
            </a:r>
            <a:endParaRPr lang="en-US" altLang="it-IT" sz="1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it-IT" sz="1800" b="1" dirty="0">
                <a:latin typeface="Times New Roman" panose="02020603050405020304" pitchFamily="18" charset="0"/>
              </a:rPr>
              <a:t>-</a:t>
            </a:r>
            <a:r>
              <a:rPr lang="en-US" altLang="it-IT" sz="1800" b="1" dirty="0" err="1">
                <a:latin typeface="Times New Roman" panose="02020603050405020304" pitchFamily="18" charset="0"/>
              </a:rPr>
              <a:t>Analisi</a:t>
            </a:r>
            <a:r>
              <a:rPr lang="en-US" altLang="it-IT" sz="1800" b="1" dirty="0">
                <a:latin typeface="Times New Roman" panose="02020603050405020304" pitchFamily="18" charset="0"/>
              </a:rPr>
              <a:t> </a:t>
            </a:r>
            <a:r>
              <a:rPr lang="en-US" altLang="it-IT" sz="1800" b="1" dirty="0" err="1">
                <a:latin typeface="Times New Roman" panose="02020603050405020304" pitchFamily="18" charset="0"/>
              </a:rPr>
              <a:t>eteroschedasticità</a:t>
            </a:r>
            <a:r>
              <a:rPr lang="en-US" altLang="it-IT" sz="1800" b="1" dirty="0">
                <a:latin typeface="Times New Roman" panose="02020603050405020304" pitchFamily="18" charset="0"/>
              </a:rPr>
              <a:t> e </a:t>
            </a:r>
            <a:r>
              <a:rPr lang="en-US" altLang="it-IT" sz="1800" b="1" dirty="0" err="1">
                <a:latin typeface="Times New Roman" panose="02020603050405020304" pitchFamily="18" charset="0"/>
              </a:rPr>
              <a:t>Linearità</a:t>
            </a:r>
            <a:r>
              <a:rPr lang="en-US" altLang="it-IT" sz="1800" b="1" dirty="0">
                <a:latin typeface="Times New Roman" panose="02020603050405020304" pitchFamily="18" charset="0"/>
              </a:rPr>
              <a:t>: </a:t>
            </a:r>
            <a:r>
              <a:rPr lang="en-US" altLang="it-IT" sz="1800" dirty="0" err="1">
                <a:latin typeface="Times New Roman" panose="02020603050405020304" pitchFamily="18" charset="0"/>
              </a:rPr>
              <a:t>Trasformazioni</a:t>
            </a:r>
            <a:r>
              <a:rPr lang="en-US" altLang="it-IT" sz="1800" dirty="0">
                <a:latin typeface="Times New Roman" panose="02020603050405020304" pitchFamily="18" charset="0"/>
              </a:rPr>
              <a:t>, Additive models (loess o splines) 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it-IT" sz="1800" b="1" dirty="0">
                <a:latin typeface="Times New Roman" panose="02020603050405020304" pitchFamily="18" charset="0"/>
              </a:rPr>
              <a:t>-</a:t>
            </a:r>
            <a:r>
              <a:rPr lang="en-US" altLang="it-IT" sz="1800" b="1" dirty="0" err="1">
                <a:latin typeface="Times New Roman" panose="02020603050405020304" pitchFamily="18" charset="0"/>
              </a:rPr>
              <a:t>Analisi</a:t>
            </a:r>
            <a:r>
              <a:rPr lang="en-US" altLang="it-IT" sz="1800" b="1" dirty="0">
                <a:latin typeface="Times New Roman" panose="02020603050405020304" pitchFamily="18" charset="0"/>
              </a:rPr>
              <a:t> outliers e leverage: </a:t>
            </a:r>
            <a:r>
              <a:rPr lang="en-US" altLang="it-IT" sz="1800" dirty="0" err="1">
                <a:latin typeface="Times New Roman" panose="02020603050405020304" pitchFamily="18" charset="0"/>
              </a:rPr>
              <a:t>Diagnostiche</a:t>
            </a:r>
            <a:r>
              <a:rPr lang="en-US" altLang="it-IT" sz="1800" dirty="0">
                <a:latin typeface="Times New Roman" panose="02020603050405020304" pitchFamily="18" charset="0"/>
              </a:rPr>
              <a:t> e Robust regression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it-IT" sz="1800" b="1" dirty="0">
                <a:latin typeface="Times New Roman" panose="02020603050405020304" pitchFamily="18" charset="0"/>
              </a:rPr>
              <a:t>-Model selection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it-IT" sz="1800" b="1" dirty="0">
                <a:latin typeface="Times New Roman" panose="02020603050405020304" pitchFamily="18" charset="0"/>
              </a:rPr>
              <a:t>-</a:t>
            </a:r>
            <a:r>
              <a:rPr lang="en-US" altLang="it-IT" sz="1800" b="1" dirty="0" err="1">
                <a:latin typeface="Times New Roman" panose="02020603050405020304" pitchFamily="18" charset="0"/>
              </a:rPr>
              <a:t>Interpretazione</a:t>
            </a:r>
            <a:r>
              <a:rPr lang="en-US" altLang="it-IT" sz="1800" b="1" dirty="0">
                <a:latin typeface="Times New Roman" panose="02020603050405020304" pitchFamily="18" charset="0"/>
              </a:rPr>
              <a:t> </a:t>
            </a:r>
            <a:r>
              <a:rPr lang="en-US" altLang="it-IT" sz="1800" b="1" dirty="0" err="1">
                <a:latin typeface="Times New Roman" panose="02020603050405020304" pitchFamily="18" charset="0"/>
              </a:rPr>
              <a:t>modello</a:t>
            </a:r>
            <a:r>
              <a:rPr lang="en-US" altLang="it-IT" sz="1800" b="1" dirty="0">
                <a:latin typeface="Times New Roman" panose="02020603050405020304" pitchFamily="18" charset="0"/>
              </a:rPr>
              <a:t>: </a:t>
            </a:r>
            <a:r>
              <a:rPr lang="en-US" altLang="it-IT" sz="1800" dirty="0" err="1">
                <a:latin typeface="Times New Roman" panose="02020603050405020304" pitchFamily="18" charset="0"/>
              </a:rPr>
              <a:t>Effetti</a:t>
            </a:r>
            <a:r>
              <a:rPr lang="en-US" altLang="it-IT" sz="1800" dirty="0">
                <a:latin typeface="Times New Roman" panose="02020603050405020304" pitchFamily="18" charset="0"/>
              </a:rPr>
              <a:t> e </a:t>
            </a:r>
            <a:r>
              <a:rPr lang="en-US" altLang="it-IT" sz="1800" dirty="0" err="1">
                <a:latin typeface="Times New Roman" panose="02020603050405020304" pitchFamily="18" charset="0"/>
              </a:rPr>
              <a:t>significatività</a:t>
            </a:r>
            <a:r>
              <a:rPr lang="en-US" altLang="it-IT" sz="1800" dirty="0">
                <a:latin typeface="Times New Roman" panose="02020603050405020304" pitchFamily="18" charset="0"/>
              </a:rPr>
              <a:t> </a:t>
            </a:r>
            <a:r>
              <a:rPr lang="en-US" altLang="it-IT" sz="1800" dirty="0" err="1">
                <a:latin typeface="Times New Roman" panose="02020603050405020304" pitchFamily="18" charset="0"/>
              </a:rPr>
              <a:t>parametri</a:t>
            </a:r>
            <a:endParaRPr lang="en-US" altLang="it-IT" sz="1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altLang="it-IT" sz="1800" b="1" dirty="0">
                <a:latin typeface="Times New Roman" panose="02020603050405020304" pitchFamily="18" charset="0"/>
              </a:rPr>
              <a:t>-Robust inference</a:t>
            </a:r>
            <a:r>
              <a:rPr lang="en-US" altLang="it-IT" sz="1800" dirty="0">
                <a:latin typeface="Times New Roman" panose="02020603050405020304" pitchFamily="18" charset="0"/>
              </a:rPr>
              <a:t>: Bootstrap sui </a:t>
            </a:r>
            <a:r>
              <a:rPr lang="en-US" altLang="it-IT" sz="1800" dirty="0" err="1">
                <a:latin typeface="Times New Roman" panose="02020603050405020304" pitchFamily="18" charset="0"/>
              </a:rPr>
              <a:t>parametri</a:t>
            </a:r>
            <a:r>
              <a:rPr lang="en-US" altLang="it-IT" sz="1800" dirty="0">
                <a:latin typeface="Times New Roman" panose="02020603050405020304" pitchFamily="18" charset="0"/>
              </a:rPr>
              <a:t> </a:t>
            </a:r>
            <a:r>
              <a:rPr lang="en-US" altLang="it-IT" sz="1800" dirty="0" err="1">
                <a:latin typeface="Times New Roman" panose="02020603050405020304" pitchFamily="18" charset="0"/>
              </a:rPr>
              <a:t>stimati</a:t>
            </a:r>
            <a:endParaRPr lang="en-US" altLang="it-IT" sz="1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endParaRPr lang="en-US" altLang="it-IT" sz="1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it-IT" altLang="en-US" sz="2400" dirty="0">
                <a:solidFill>
                  <a:srgbClr val="FF0000"/>
                </a:solidFill>
              </a:rPr>
              <a:t>1b) Infine un' analisi/modellazione di una variabile binaria </a:t>
            </a:r>
            <a:r>
              <a:rPr lang="it-IT" altLang="en-US" sz="2400" dirty="0"/>
              <a:t>(discretizzare il target  quantitativo), svolgere modelli semplici (stima parametri, interpretazione, OR) controllando </a:t>
            </a:r>
            <a:r>
              <a:rPr lang="it-IT" altLang="en-US" sz="2400" dirty="0" err="1"/>
              <a:t>collin</a:t>
            </a:r>
            <a:r>
              <a:rPr lang="it-IT" altLang="en-US" sz="2400" dirty="0"/>
              <a:t>, </a:t>
            </a:r>
            <a:r>
              <a:rPr lang="it-IT" altLang="en-US" sz="2400" dirty="0" err="1"/>
              <a:t>separation</a:t>
            </a:r>
            <a:r>
              <a:rPr lang="it-IT" altLang="en-US" sz="2400" dirty="0"/>
              <a:t>, zero </a:t>
            </a:r>
            <a:r>
              <a:rPr lang="it-IT" altLang="en-US" sz="2400" dirty="0" err="1"/>
              <a:t>variance</a:t>
            </a:r>
            <a:r>
              <a:rPr lang="it-IT" altLang="en-US" sz="2400" dirty="0"/>
              <a:t>. </a:t>
            </a:r>
            <a:endParaRPr lang="it-IT" altLang="en-US" sz="24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endParaRPr lang="en-US" altLang="it-IT" sz="1800" dirty="0">
              <a:latin typeface="Times New Roman" panose="02020603050405020304" pitchFamily="18" charset="0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6BAA0DF-1440-46D3-9DA2-03C731786B28}"/>
              </a:ext>
            </a:extLst>
          </p:cNvPr>
          <p:cNvSpPr txBox="1"/>
          <p:nvPr/>
        </p:nvSpPr>
        <p:spPr>
          <a:xfrm>
            <a:off x="179512" y="754950"/>
            <a:ext cx="2404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highlight>
                  <a:srgbClr val="FFFF00"/>
                </a:highlight>
              </a:rPr>
              <a:t>OPZIONE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olo 1"/>
          <p:cNvSpPr>
            <a:spLocks noGrp="1"/>
          </p:cNvSpPr>
          <p:nvPr>
            <p:ph type="title"/>
          </p:nvPr>
        </p:nvSpPr>
        <p:spPr>
          <a:xfrm>
            <a:off x="468312" y="115888"/>
            <a:ext cx="8568183" cy="433387"/>
          </a:xfrm>
        </p:spPr>
        <p:txBody>
          <a:bodyPr/>
          <a:lstStyle/>
          <a:p>
            <a:pPr eaLnBrk="1" hangingPunct="1"/>
            <a:r>
              <a:rPr lang="it-IT" altLang="it-IT" dirty="0"/>
              <a:t>Dettaglio project work DM</a:t>
            </a:r>
          </a:p>
        </p:txBody>
      </p:sp>
      <p:sp>
        <p:nvSpPr>
          <p:cNvPr id="17411" name="Segnaposto contenuto 2"/>
          <p:cNvSpPr>
            <a:spLocks noGrp="1"/>
          </p:cNvSpPr>
          <p:nvPr>
            <p:ph idx="1"/>
          </p:nvPr>
        </p:nvSpPr>
        <p:spPr>
          <a:xfrm>
            <a:off x="6898" y="1068988"/>
            <a:ext cx="9159875" cy="4524375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it-IT" altLang="it-IT" sz="2400" dirty="0">
                <a:solidFill>
                  <a:srgbClr val="FF0000"/>
                </a:solidFill>
              </a:rPr>
              <a:t>2a) A</a:t>
            </a:r>
            <a:r>
              <a:rPr lang="it-IT" altLang="en-US" sz="2400" dirty="0">
                <a:solidFill>
                  <a:srgbClr val="FF0000"/>
                </a:solidFill>
              </a:rPr>
              <a:t>nalisi </a:t>
            </a:r>
            <a:r>
              <a:rPr lang="it-IT" altLang="en-US" sz="2400" b="1" dirty="0">
                <a:solidFill>
                  <a:srgbClr val="FF0000"/>
                </a:solidFill>
              </a:rPr>
              <a:t>target quantitativo. </a:t>
            </a:r>
            <a:r>
              <a:rPr lang="it-IT" altLang="it-IT" sz="2400" dirty="0">
                <a:solidFill>
                  <a:srgbClr val="FF0000"/>
                </a:solidFill>
              </a:rPr>
              <a:t>Costruzione di un modello lineare COMPLESSO SENZA EFFETTUARE analisi per renderlo robusto,</a:t>
            </a:r>
            <a:r>
              <a:rPr lang="it-IT" altLang="en-US" sz="2400" dirty="0">
                <a:solidFill>
                  <a:srgbClr val="FF0000"/>
                </a:solidFill>
              </a:rPr>
              <a:t> </a:t>
            </a:r>
            <a:r>
              <a:rPr lang="it-IT" altLang="en-US" sz="2400" dirty="0"/>
              <a:t>(trasformazioni, diagnostiche, model </a:t>
            </a:r>
            <a:r>
              <a:rPr lang="it-IT" altLang="en-US" sz="2400" dirty="0" err="1"/>
              <a:t>selection</a:t>
            </a:r>
            <a:r>
              <a:rPr lang="it-IT" altLang="en-US" sz="2400" dirty="0"/>
              <a:t>, </a:t>
            </a:r>
            <a:r>
              <a:rPr lang="it-IT" altLang="en-US" sz="2400" dirty="0" err="1"/>
              <a:t>heteroskedasticità</a:t>
            </a:r>
            <a:r>
              <a:rPr lang="it-IT" altLang="en-US" sz="2400" dirty="0"/>
              <a:t>,......). Possibili modelli complessi sono A o B</a:t>
            </a:r>
          </a:p>
          <a:p>
            <a:pPr marL="0" indent="0">
              <a:buFontTx/>
              <a:buNone/>
            </a:pPr>
            <a:endParaRPr lang="it-IT" altLang="en-US" sz="1100" dirty="0"/>
          </a:p>
          <a:p>
            <a:pPr marL="0" indent="0">
              <a:buFontTx/>
              <a:buNone/>
            </a:pPr>
            <a:r>
              <a:rPr lang="it-IT" altLang="en-US" sz="2400" dirty="0"/>
              <a:t>A-modello longitudinale (osservazioni ripetute nel tempo) o modelli gerarchici (osservazioni correlate in gruppi)..tipo studenti elle scuole: </a:t>
            </a:r>
            <a:r>
              <a:rPr lang="it-IT" altLang="en-US" sz="2400" b="1" dirty="0"/>
              <a:t>MULTILEVEL MODELS </a:t>
            </a:r>
          </a:p>
          <a:p>
            <a:pPr marL="0" indent="0">
              <a:buFontTx/>
              <a:buNone/>
            </a:pPr>
            <a:endParaRPr lang="it-IT" altLang="en-US" sz="1100" b="1" dirty="0"/>
          </a:p>
          <a:p>
            <a:pPr marL="0" indent="0">
              <a:buNone/>
            </a:pPr>
            <a:r>
              <a:rPr lang="it-IT" altLang="en-US" sz="2400"/>
              <a:t>B-modello </a:t>
            </a:r>
            <a:r>
              <a:rPr lang="it-IT" altLang="en-US" sz="2400" dirty="0"/>
              <a:t>con campione troncato (</a:t>
            </a:r>
            <a:r>
              <a:rPr lang="it-IT" altLang="en-US" sz="2400" dirty="0" err="1"/>
              <a:t>e.s</a:t>
            </a:r>
            <a:r>
              <a:rPr lang="it-IT" altLang="en-US" sz="2400" dirty="0"/>
              <a:t>. il reddito osservato per i soli lavoratori), modellare sia la </a:t>
            </a:r>
            <a:r>
              <a:rPr lang="it-IT" altLang="en-US" sz="2400" dirty="0" err="1"/>
              <a:t>prob</a:t>
            </a:r>
            <a:r>
              <a:rPr lang="it-IT" altLang="en-US" sz="2400" dirty="0"/>
              <a:t> di </a:t>
            </a:r>
            <a:r>
              <a:rPr lang="it-IT" altLang="en-US" sz="2400" dirty="0" err="1"/>
              <a:t>selection</a:t>
            </a:r>
            <a:r>
              <a:rPr lang="it-IT" altLang="en-US" sz="2400" dirty="0"/>
              <a:t> (lavora si/no) che la Y per i selected : </a:t>
            </a:r>
            <a:r>
              <a:rPr lang="it-IT" altLang="en-US" sz="2400" b="1" dirty="0"/>
              <a:t>SAMPLE SELECTION MODELS </a:t>
            </a:r>
          </a:p>
          <a:p>
            <a:pPr marL="0" indent="0">
              <a:buFontTx/>
              <a:buNone/>
            </a:pPr>
            <a:endParaRPr lang="it-IT" altLang="en-US" sz="2400" b="1" dirty="0"/>
          </a:p>
        </p:txBody>
      </p:sp>
      <p:sp>
        <p:nvSpPr>
          <p:cNvPr id="17412" name="Rettangolo 3"/>
          <p:cNvSpPr>
            <a:spLocks noChangeArrowheads="1"/>
          </p:cNvSpPr>
          <p:nvPr/>
        </p:nvSpPr>
        <p:spPr bwMode="auto">
          <a:xfrm>
            <a:off x="36610" y="5584227"/>
            <a:ext cx="8567738" cy="1634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it-IT" altLang="en-US" sz="2400" dirty="0">
                <a:solidFill>
                  <a:srgbClr val="FF0000"/>
                </a:solidFill>
              </a:rPr>
              <a:t>2b) Infine un' analisi/modellazione di una variabile binaria </a:t>
            </a:r>
            <a:r>
              <a:rPr lang="it-IT" altLang="en-US" sz="2400" dirty="0"/>
              <a:t>(discretizzare il target  quantitativo), svolgere modelli semplici (stima parametri, interpretazione, OR) controllando </a:t>
            </a:r>
            <a:r>
              <a:rPr lang="it-IT" altLang="en-US" sz="2400" dirty="0" err="1"/>
              <a:t>collin</a:t>
            </a:r>
            <a:r>
              <a:rPr lang="it-IT" altLang="en-US" sz="2400" dirty="0"/>
              <a:t>, </a:t>
            </a:r>
            <a:r>
              <a:rPr lang="it-IT" altLang="en-US" sz="2400" dirty="0" err="1"/>
              <a:t>separation</a:t>
            </a:r>
            <a:r>
              <a:rPr lang="it-IT" altLang="en-US" sz="2400" dirty="0"/>
              <a:t>, zero </a:t>
            </a:r>
            <a:r>
              <a:rPr lang="it-IT" altLang="en-US" sz="2400" dirty="0" err="1"/>
              <a:t>variance</a:t>
            </a:r>
            <a:r>
              <a:rPr lang="it-IT" altLang="en-US" sz="2400" dirty="0"/>
              <a:t>. </a:t>
            </a:r>
            <a:endParaRPr lang="it-IT" altLang="en-US" sz="24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None/>
            </a:pPr>
            <a:endParaRPr lang="en-US" altLang="it-IT" sz="1800" dirty="0">
              <a:latin typeface="Times New Roman" panose="02020603050405020304" pitchFamily="18" charset="0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6BAA0DF-1440-46D3-9DA2-03C731786B28}"/>
              </a:ext>
            </a:extLst>
          </p:cNvPr>
          <p:cNvSpPr txBox="1"/>
          <p:nvPr/>
        </p:nvSpPr>
        <p:spPr>
          <a:xfrm>
            <a:off x="179512" y="754950"/>
            <a:ext cx="2404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highlight>
                  <a:srgbClr val="FFFF00"/>
                </a:highlight>
              </a:rPr>
              <a:t>OPZIONE 2</a:t>
            </a:r>
          </a:p>
        </p:txBody>
      </p:sp>
    </p:spTree>
    <p:extLst>
      <p:ext uri="{BB962C8B-B14F-4D97-AF65-F5344CB8AC3E}">
        <p14:creationId xmlns:p14="http://schemas.microsoft.com/office/powerpoint/2010/main" val="689242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olo 1"/>
          <p:cNvSpPr>
            <a:spLocks noGrp="1"/>
          </p:cNvSpPr>
          <p:nvPr>
            <p:ph type="title"/>
          </p:nvPr>
        </p:nvSpPr>
        <p:spPr>
          <a:xfrm>
            <a:off x="338138" y="0"/>
            <a:ext cx="8229600" cy="836613"/>
          </a:xfrm>
        </p:spPr>
        <p:txBody>
          <a:bodyPr/>
          <a:lstStyle/>
          <a:p>
            <a:r>
              <a:rPr lang="en-US" altLang="en-US"/>
              <a:t>DATA per esame</a:t>
            </a:r>
          </a:p>
        </p:txBody>
      </p:sp>
      <p:sp>
        <p:nvSpPr>
          <p:cNvPr id="19459" name="Segnaposto numero diapositiva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803816B-4CB2-4D7C-A532-39CC1C02EFF0}" type="slidenum">
              <a:rPr lang="it-IT" altLang="it-IT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it-IT" altLang="it-IT" sz="1400"/>
          </a:p>
        </p:txBody>
      </p:sp>
      <p:sp>
        <p:nvSpPr>
          <p:cNvPr id="19460" name="Rettangolo 4"/>
          <p:cNvSpPr>
            <a:spLocks noChangeArrowheads="1"/>
          </p:cNvSpPr>
          <p:nvPr/>
        </p:nvSpPr>
        <p:spPr bwMode="auto">
          <a:xfrm>
            <a:off x="685800" y="1273175"/>
            <a:ext cx="68214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https://archive.ics.uci.edu/ml/datasets</a:t>
            </a:r>
          </a:p>
        </p:txBody>
      </p:sp>
      <p:sp>
        <p:nvSpPr>
          <p:cNvPr id="19461" name="Rettangolo 5"/>
          <p:cNvSpPr>
            <a:spLocks noChangeArrowheads="1"/>
          </p:cNvSpPr>
          <p:nvPr/>
        </p:nvSpPr>
        <p:spPr bwMode="auto">
          <a:xfrm>
            <a:off x="684213" y="806450"/>
            <a:ext cx="41354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https://archive.ics.uci.edu/ml/</a:t>
            </a:r>
          </a:p>
        </p:txBody>
      </p:sp>
      <p:pic>
        <p:nvPicPr>
          <p:cNvPr id="194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844675"/>
            <a:ext cx="7423150" cy="464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8662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olo 1"/>
          <p:cNvSpPr>
            <a:spLocks noGrp="1"/>
          </p:cNvSpPr>
          <p:nvPr>
            <p:ph type="title"/>
          </p:nvPr>
        </p:nvSpPr>
        <p:spPr>
          <a:xfrm>
            <a:off x="468313" y="30163"/>
            <a:ext cx="8229600" cy="1143000"/>
          </a:xfrm>
        </p:spPr>
        <p:txBody>
          <a:bodyPr/>
          <a:lstStyle/>
          <a:p>
            <a:r>
              <a:rPr lang="en-US" altLang="en-US"/>
              <a:t>DATA per esame   Kaggle.com</a:t>
            </a:r>
          </a:p>
        </p:txBody>
      </p:sp>
      <p:sp>
        <p:nvSpPr>
          <p:cNvPr id="20483" name="Segnaposto numero diapositiva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8B4FD6E-F667-4098-AFFF-A82FFB6AB6B9}" type="slidenum">
              <a:rPr lang="it-IT" altLang="it-IT" sz="14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it-IT" altLang="it-IT" sz="1400"/>
          </a:p>
        </p:txBody>
      </p:sp>
      <p:pic>
        <p:nvPicPr>
          <p:cNvPr id="2048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981075"/>
            <a:ext cx="6651625" cy="564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9026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Non si accettano dataset quali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268760"/>
            <a:ext cx="8686800" cy="4525963"/>
          </a:xfrm>
        </p:spPr>
        <p:txBody>
          <a:bodyPr/>
          <a:lstStyle/>
          <a:p>
            <a:pPr marL="514350" indent="-514350">
              <a:buFontTx/>
              <a:buAutoNum type="arabicParenR"/>
              <a:defRPr/>
            </a:pPr>
            <a:r>
              <a:rPr lang="en-US" dirty="0" err="1"/>
              <a:t>Prezzo</a:t>
            </a:r>
            <a:r>
              <a:rPr lang="en-US" dirty="0"/>
              <a:t> </a:t>
            </a:r>
            <a:r>
              <a:rPr lang="en-US" dirty="0" err="1"/>
              <a:t>delle</a:t>
            </a:r>
            <a:r>
              <a:rPr lang="en-US" dirty="0"/>
              <a:t> case (</a:t>
            </a:r>
            <a:r>
              <a:rPr lang="en-US" dirty="0" err="1"/>
              <a:t>boston</a:t>
            </a:r>
            <a:r>
              <a:rPr lang="en-US" dirty="0"/>
              <a:t> housing e company)</a:t>
            </a:r>
          </a:p>
          <a:p>
            <a:pPr marL="514350" indent="-514350">
              <a:buFontTx/>
              <a:buAutoNum type="arabicParenR"/>
              <a:defRPr/>
            </a:pPr>
            <a:r>
              <a:rPr lang="en-US" dirty="0"/>
              <a:t>Temperature </a:t>
            </a:r>
            <a:r>
              <a:rPr lang="en-US" dirty="0" err="1"/>
              <a:t>australia</a:t>
            </a:r>
            <a:r>
              <a:rPr lang="en-US" dirty="0"/>
              <a:t>, </a:t>
            </a:r>
            <a:r>
              <a:rPr lang="en-US" dirty="0" err="1"/>
              <a:t>pokemon</a:t>
            </a:r>
            <a:r>
              <a:rPr lang="en-US" dirty="0"/>
              <a:t>, diamonds, wine</a:t>
            </a:r>
          </a:p>
          <a:p>
            <a:pPr marL="514350" indent="-514350">
              <a:buFontTx/>
              <a:buAutoNum type="arabicParenR"/>
              <a:defRPr/>
            </a:pPr>
            <a:r>
              <a:rPr lang="en-US" dirty="0" err="1"/>
              <a:t>Wage,salario</a:t>
            </a:r>
            <a:r>
              <a:rPr lang="en-US" dirty="0"/>
              <a:t>, </a:t>
            </a:r>
            <a:r>
              <a:rPr lang="en-US" dirty="0" err="1"/>
              <a:t>reddito</a:t>
            </a:r>
            <a:r>
              <a:rPr lang="en-US" dirty="0"/>
              <a:t> </a:t>
            </a:r>
            <a:r>
              <a:rPr lang="en-US" dirty="0" err="1"/>
              <a:t>ed</a:t>
            </a:r>
            <a:r>
              <a:rPr lang="en-US" dirty="0"/>
              <a:t> education</a:t>
            </a:r>
          </a:p>
          <a:p>
            <a:pPr marL="514350" indent="-514350">
              <a:buFontTx/>
              <a:buAutoNum type="arabicParenR"/>
              <a:defRPr/>
            </a:pPr>
            <a:r>
              <a:rPr lang="en-US" dirty="0"/>
              <a:t>Dataset </a:t>
            </a:r>
            <a:r>
              <a:rPr lang="en-US" dirty="0" err="1"/>
              <a:t>piccoli</a:t>
            </a:r>
            <a:r>
              <a:rPr lang="en-US" dirty="0"/>
              <a:t>  con </a:t>
            </a:r>
            <a:r>
              <a:rPr lang="en-US" dirty="0" err="1"/>
              <a:t>poche</a:t>
            </a:r>
            <a:r>
              <a:rPr lang="en-US" dirty="0"/>
              <a:t> </a:t>
            </a:r>
            <a:r>
              <a:rPr lang="en-US" dirty="0" err="1"/>
              <a:t>variabili</a:t>
            </a:r>
            <a:endParaRPr lang="en-US" dirty="0"/>
          </a:p>
          <a:p>
            <a:pPr marL="514350" indent="-514350">
              <a:buFontTx/>
              <a:buAutoNum type="arabicParenR"/>
              <a:defRPr/>
            </a:pPr>
            <a:r>
              <a:rPr lang="en-US" dirty="0"/>
              <a:t>Dataset </a:t>
            </a:r>
            <a:r>
              <a:rPr lang="en-US" dirty="0" err="1"/>
              <a:t>usati</a:t>
            </a:r>
            <a:r>
              <a:rPr lang="en-US" dirty="0"/>
              <a:t> a </a:t>
            </a:r>
            <a:r>
              <a:rPr lang="en-US" dirty="0" err="1"/>
              <a:t>lezione</a:t>
            </a:r>
            <a:endParaRPr lang="en-US" dirty="0"/>
          </a:p>
          <a:p>
            <a:pPr marL="0" indent="0">
              <a:buFontTx/>
              <a:buNone/>
              <a:defRPr/>
            </a:pPr>
            <a:endParaRPr lang="en-US" dirty="0"/>
          </a:p>
          <a:p>
            <a:pPr marL="0" indent="0">
              <a:buFontTx/>
              <a:buNone/>
              <a:defRPr/>
            </a:pPr>
            <a:r>
              <a:rPr lang="en-US" b="1" dirty="0" err="1"/>
              <a:t>Anche</a:t>
            </a:r>
            <a:r>
              <a:rPr lang="en-US" b="1" dirty="0"/>
              <a:t> se </a:t>
            </a:r>
            <a:r>
              <a:rPr lang="en-US" b="1" dirty="0" err="1"/>
              <a:t>sono</a:t>
            </a:r>
            <a:r>
              <a:rPr lang="en-US" b="1" dirty="0"/>
              <a:t> </a:t>
            </a:r>
            <a:r>
              <a:rPr lang="en-US" b="1" dirty="0" err="1"/>
              <a:t>sul</a:t>
            </a:r>
            <a:r>
              <a:rPr lang="en-US" b="1" dirty="0"/>
              <a:t> </a:t>
            </a:r>
            <a:r>
              <a:rPr lang="en-US" b="1" dirty="0" err="1"/>
              <a:t>mio</a:t>
            </a:r>
            <a:r>
              <a:rPr lang="en-US" b="1" dirty="0"/>
              <a:t> </a:t>
            </a:r>
            <a:r>
              <a:rPr lang="en-US" b="1" dirty="0" err="1"/>
              <a:t>sito</a:t>
            </a:r>
            <a:r>
              <a:rPr lang="en-US" b="1" dirty="0"/>
              <a:t> o </a:t>
            </a:r>
            <a:r>
              <a:rPr lang="en-US" b="1" dirty="0" err="1"/>
              <a:t>su</a:t>
            </a:r>
            <a:r>
              <a:rPr lang="en-US" b="1" dirty="0"/>
              <a:t> </a:t>
            </a:r>
            <a:r>
              <a:rPr lang="en-US" b="1" dirty="0" err="1"/>
              <a:t>dropbox</a:t>
            </a:r>
            <a:r>
              <a:rPr lang="en-US" b="1" dirty="0"/>
              <a:t> o </a:t>
            </a:r>
            <a:r>
              <a:rPr lang="en-US" b="1" dirty="0" err="1"/>
              <a:t>su</a:t>
            </a:r>
            <a:r>
              <a:rPr lang="en-US" b="1" dirty="0"/>
              <a:t> </a:t>
            </a:r>
            <a:r>
              <a:rPr lang="en-US" b="1" dirty="0" err="1"/>
              <a:t>kaggle</a:t>
            </a:r>
            <a:r>
              <a:rPr lang="en-US" b="1" dirty="0"/>
              <a:t> o </a:t>
            </a:r>
            <a:r>
              <a:rPr lang="en-US" b="1" dirty="0" err="1"/>
              <a:t>su</a:t>
            </a:r>
            <a:r>
              <a:rPr lang="en-US" b="1" dirty="0"/>
              <a:t> UCI!!!</a:t>
            </a:r>
          </a:p>
          <a:p>
            <a:pPr marL="514350" indent="-514350">
              <a:buFontTx/>
              <a:buAutoNum type="arabicParenR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026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olo 1"/>
          <p:cNvSpPr>
            <a:spLocks noGrp="1"/>
          </p:cNvSpPr>
          <p:nvPr>
            <p:ph type="title"/>
          </p:nvPr>
        </p:nvSpPr>
        <p:spPr>
          <a:xfrm>
            <a:off x="457200" y="17463"/>
            <a:ext cx="8229600" cy="603225"/>
          </a:xfrm>
        </p:spPr>
        <p:txBody>
          <a:bodyPr/>
          <a:lstStyle/>
          <a:p>
            <a:pPr algn="r"/>
            <a:r>
              <a:rPr lang="it-IT" altLang="fr-FR" sz="4000" dirty="0" err="1"/>
              <a:t>TESTi</a:t>
            </a:r>
            <a:r>
              <a:rPr lang="it-IT" altLang="fr-FR" sz="4000" dirty="0"/>
              <a:t> da studiare</a:t>
            </a:r>
          </a:p>
        </p:txBody>
      </p:sp>
      <p:pic>
        <p:nvPicPr>
          <p:cNvPr id="9220" name="Immagin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835" y="0"/>
            <a:ext cx="2742598" cy="3635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25AF0896-5D34-4E25-9D0B-DF694E8BD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89" y="3717032"/>
            <a:ext cx="9144000" cy="1612900"/>
          </a:xfrm>
        </p:spPr>
        <p:txBody>
          <a:bodyPr/>
          <a:lstStyle/>
          <a:p>
            <a:r>
              <a:rPr lang="en-US" altLang="en-US" sz="1900" dirty="0">
                <a:solidFill>
                  <a:srgbClr val="FF0000"/>
                </a:solidFill>
              </a:rPr>
              <a:t>Chapter 2 (part 2.8 Estimating Nonlinear Relationships, 2.9 Regression with </a:t>
            </a:r>
            <a:r>
              <a:rPr lang="en-US" altLang="en-US" sz="1900" dirty="0">
                <a:solidFill>
                  <a:srgbClr val="FF3300"/>
                </a:solidFill>
              </a:rPr>
              <a:t>Indicator Variables) </a:t>
            </a:r>
          </a:p>
          <a:p>
            <a:r>
              <a:rPr lang="en-US" altLang="en-US" sz="1900" dirty="0">
                <a:solidFill>
                  <a:srgbClr val="FF3300"/>
                </a:solidFill>
              </a:rPr>
              <a:t>Chapter 4 (part 4.4 Polynomial Models, 4.5 Log-Linear Models, 4.6 Log-Log </a:t>
            </a:r>
            <a:r>
              <a:rPr lang="en-US" altLang="en-US" sz="1900" dirty="0">
                <a:solidFill>
                  <a:srgbClr val="FF0000"/>
                </a:solidFill>
              </a:rPr>
              <a:t>Models see also 5.7.1 LOG-LINEAR MODELS)</a:t>
            </a:r>
          </a:p>
          <a:p>
            <a:r>
              <a:rPr lang="it-IT" sz="1900" dirty="0" err="1">
                <a:solidFill>
                  <a:srgbClr val="FF0000"/>
                </a:solidFill>
              </a:rPr>
              <a:t>Chapter</a:t>
            </a:r>
            <a:r>
              <a:rPr lang="it-IT" sz="1900" dirty="0">
                <a:solidFill>
                  <a:srgbClr val="FF0000"/>
                </a:solidFill>
              </a:rPr>
              <a:t> 5 The Multiple </a:t>
            </a:r>
            <a:r>
              <a:rPr lang="it-IT" sz="1900" dirty="0" err="1">
                <a:solidFill>
                  <a:srgbClr val="FF0000"/>
                </a:solidFill>
              </a:rPr>
              <a:t>Regression</a:t>
            </a:r>
            <a:r>
              <a:rPr lang="it-IT" sz="1900" dirty="0">
                <a:solidFill>
                  <a:srgbClr val="FF0000"/>
                </a:solidFill>
              </a:rPr>
              <a:t> Model</a:t>
            </a:r>
          </a:p>
          <a:p>
            <a:r>
              <a:rPr lang="en-US" altLang="en-US" sz="1900" dirty="0">
                <a:solidFill>
                  <a:srgbClr val="FF0000"/>
                </a:solidFill>
              </a:rPr>
              <a:t>Chapter 6 (part 6.4 Poor Data, Collinearity, and Insignificance) </a:t>
            </a:r>
            <a:endParaRPr lang="it-IT" altLang="en-US" sz="1900" dirty="0">
              <a:solidFill>
                <a:srgbClr val="FF0000"/>
              </a:solidFill>
            </a:endParaRPr>
          </a:p>
          <a:p>
            <a:r>
              <a:rPr lang="en-US" sz="1900" dirty="0">
                <a:solidFill>
                  <a:srgbClr val="FF0000"/>
                </a:solidFill>
              </a:rPr>
              <a:t>Chapter 7 Using Indicator Variables (no </a:t>
            </a:r>
            <a:r>
              <a:rPr lang="en-US" sz="1900" dirty="0" err="1">
                <a:solidFill>
                  <a:srgbClr val="FF0000"/>
                </a:solidFill>
              </a:rPr>
              <a:t>paragrafi</a:t>
            </a:r>
            <a:r>
              <a:rPr lang="en-US" sz="1900" dirty="0">
                <a:solidFill>
                  <a:srgbClr val="FF0000"/>
                </a:solidFill>
              </a:rPr>
              <a:t> &gt;= 7.5)</a:t>
            </a:r>
            <a:endParaRPr lang="en-US" altLang="en-US" sz="1900" dirty="0">
              <a:solidFill>
                <a:srgbClr val="FF0000"/>
              </a:solidFill>
            </a:endParaRPr>
          </a:p>
          <a:p>
            <a:r>
              <a:rPr lang="en-US" altLang="en-US" sz="1900" dirty="0">
                <a:solidFill>
                  <a:srgbClr val="FF0000"/>
                </a:solidFill>
              </a:rPr>
              <a:t>Chapter 8 Heteroskedasticity</a:t>
            </a:r>
          </a:p>
          <a:p>
            <a:r>
              <a:rPr lang="it-IT" sz="1900" dirty="0" err="1">
                <a:solidFill>
                  <a:srgbClr val="FF0000"/>
                </a:solidFill>
              </a:rPr>
              <a:t>Chapter</a:t>
            </a:r>
            <a:r>
              <a:rPr lang="it-IT" sz="1900" dirty="0">
                <a:solidFill>
                  <a:srgbClr val="FF0000"/>
                </a:solidFill>
              </a:rPr>
              <a:t> 16 Qualitative and Limited </a:t>
            </a:r>
            <a:r>
              <a:rPr lang="it-IT" sz="1900" dirty="0" err="1">
                <a:solidFill>
                  <a:srgbClr val="FF0000"/>
                </a:solidFill>
              </a:rPr>
              <a:t>Dependent</a:t>
            </a:r>
            <a:r>
              <a:rPr lang="it-IT" sz="1900" dirty="0">
                <a:solidFill>
                  <a:srgbClr val="FF0000"/>
                </a:solidFill>
              </a:rPr>
              <a:t> </a:t>
            </a:r>
            <a:r>
              <a:rPr lang="it-IT" sz="1900" dirty="0" err="1">
                <a:solidFill>
                  <a:srgbClr val="FF0000"/>
                </a:solidFill>
              </a:rPr>
              <a:t>Variable</a:t>
            </a:r>
            <a:r>
              <a:rPr lang="it-IT" sz="1900" dirty="0">
                <a:solidFill>
                  <a:srgbClr val="FF0000"/>
                </a:solidFill>
              </a:rPr>
              <a:t> </a:t>
            </a:r>
            <a:r>
              <a:rPr lang="it-IT" sz="1900" dirty="0" err="1">
                <a:solidFill>
                  <a:srgbClr val="FF0000"/>
                </a:solidFill>
              </a:rPr>
              <a:t>Models</a:t>
            </a:r>
            <a:r>
              <a:rPr lang="it-IT" sz="1900" dirty="0">
                <a:solidFill>
                  <a:srgbClr val="FF0000"/>
                </a:solidFill>
              </a:rPr>
              <a:t> (fino </a:t>
            </a:r>
            <a:r>
              <a:rPr lang="it-IT" sz="1900" dirty="0" err="1">
                <a:solidFill>
                  <a:srgbClr val="FF0000"/>
                </a:solidFill>
              </a:rPr>
              <a:t>sez</a:t>
            </a:r>
            <a:r>
              <a:rPr lang="it-IT" sz="1900" dirty="0">
                <a:solidFill>
                  <a:srgbClr val="FF0000"/>
                </a:solidFill>
              </a:rPr>
              <a:t> 16.3)</a:t>
            </a:r>
            <a:endParaRPr lang="en-US" altLang="en-US" sz="1900" dirty="0">
              <a:solidFill>
                <a:srgbClr val="FF0000"/>
              </a:solidFill>
            </a:endParaRPr>
          </a:p>
          <a:p>
            <a:endParaRPr lang="en-US" altLang="en-US" sz="1900" dirty="0">
              <a:solidFill>
                <a:srgbClr val="FF0000"/>
              </a:solidFill>
            </a:endParaRPr>
          </a:p>
          <a:p>
            <a:endParaRPr lang="en-US" altLang="en-US" sz="1900" dirty="0">
              <a:solidFill>
                <a:srgbClr val="FF3300"/>
              </a:solidFill>
            </a:endParaRPr>
          </a:p>
          <a:p>
            <a:endParaRPr lang="en-US" altLang="en-US" sz="1900" dirty="0">
              <a:solidFill>
                <a:srgbClr val="FF0000"/>
              </a:solidFill>
            </a:endParaRPr>
          </a:p>
          <a:p>
            <a:endParaRPr lang="en-US" altLang="en-US" sz="1900" dirty="0">
              <a:solidFill>
                <a:srgbClr val="FF0000"/>
              </a:solidFill>
            </a:endParaRPr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D63F9730-59D6-433E-86DE-9902E0A9368E}"/>
              </a:ext>
            </a:extLst>
          </p:cNvPr>
          <p:cNvSpPr txBox="1">
            <a:spLocks/>
          </p:cNvSpPr>
          <p:nvPr/>
        </p:nvSpPr>
        <p:spPr bwMode="auto">
          <a:xfrm>
            <a:off x="3131840" y="1535448"/>
            <a:ext cx="4290509" cy="63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altLang="en-US" sz="2200" b="1" kern="0" dirty="0">
                <a:solidFill>
                  <a:srgbClr val="FF0000"/>
                </a:solidFill>
              </a:rPr>
              <a:t>Principles of econometrics </a:t>
            </a:r>
            <a:br>
              <a:rPr lang="en-US" altLang="en-US" sz="2200" b="1" kern="0" dirty="0">
                <a:solidFill>
                  <a:srgbClr val="FF0000"/>
                </a:solidFill>
              </a:rPr>
            </a:br>
            <a:r>
              <a:rPr lang="en-US" altLang="en-US" sz="2200" b="1" kern="0" dirty="0">
                <a:solidFill>
                  <a:srgbClr val="FF0000"/>
                </a:solidFill>
              </a:rPr>
              <a:t>Hill, Griffiths, Lim</a:t>
            </a:r>
            <a:br>
              <a:rPr lang="en-US" altLang="en-US" sz="2200" b="1" kern="0" dirty="0">
                <a:solidFill>
                  <a:srgbClr val="FF0000"/>
                </a:solidFill>
              </a:rPr>
            </a:br>
            <a:endParaRPr lang="en-US" altLang="en-US" sz="2200" b="1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6811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olo 1"/>
          <p:cNvSpPr>
            <a:spLocks noGrp="1"/>
          </p:cNvSpPr>
          <p:nvPr>
            <p:ph type="title"/>
          </p:nvPr>
        </p:nvSpPr>
        <p:spPr>
          <a:xfrm>
            <a:off x="457200" y="17463"/>
            <a:ext cx="8229600" cy="675233"/>
          </a:xfrm>
        </p:spPr>
        <p:txBody>
          <a:bodyPr/>
          <a:lstStyle/>
          <a:p>
            <a:r>
              <a:rPr lang="it-IT" altLang="fr-FR" sz="4000" dirty="0" err="1"/>
              <a:t>TESTi</a:t>
            </a:r>
            <a:r>
              <a:rPr lang="it-IT" altLang="fr-FR" sz="4000" dirty="0"/>
              <a:t> da studiare</a:t>
            </a:r>
          </a:p>
        </p:txBody>
      </p:sp>
      <p:pic>
        <p:nvPicPr>
          <p:cNvPr id="922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022" y="882905"/>
            <a:ext cx="4668837" cy="447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E80AC303-2767-427B-BAE7-C40FCC3C2C39}"/>
              </a:ext>
            </a:extLst>
          </p:cNvPr>
          <p:cNvSpPr/>
          <p:nvPr/>
        </p:nvSpPr>
        <p:spPr>
          <a:xfrm>
            <a:off x="4932040" y="4267864"/>
            <a:ext cx="40809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Chapter 3 (no section 3.5), </a:t>
            </a:r>
          </a:p>
          <a:p>
            <a:r>
              <a:rPr lang="en-US" dirty="0"/>
              <a:t>Chapter/section 4.1, 4.2, 4.3 , 6.1, 6.2</a:t>
            </a:r>
          </a:p>
          <a:p>
            <a:r>
              <a:rPr lang="en-US"/>
              <a:t>Chapter </a:t>
            </a:r>
            <a:r>
              <a:rPr lang="en-US" dirty="0"/>
              <a:t>7</a:t>
            </a:r>
            <a:endParaRPr lang="it-IT" altLang="en-US" dirty="0"/>
          </a:p>
          <a:p>
            <a:endParaRPr lang="it-IT" altLang="en-US" dirty="0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17ECFD25-60C9-4A97-9AE5-F91ADCE60613}"/>
              </a:ext>
            </a:extLst>
          </p:cNvPr>
          <p:cNvSpPr/>
          <p:nvPr/>
        </p:nvSpPr>
        <p:spPr>
          <a:xfrm>
            <a:off x="35496" y="6101457"/>
            <a:ext cx="72834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altLang="en-US" dirty="0"/>
              <a:t>For </a:t>
            </a:r>
            <a:r>
              <a:rPr lang="it-IT" altLang="en-US" dirty="0" err="1"/>
              <a:t>Robust</a:t>
            </a:r>
            <a:r>
              <a:rPr lang="it-IT" altLang="en-US" dirty="0"/>
              <a:t> </a:t>
            </a:r>
            <a:r>
              <a:rPr lang="it-IT" altLang="en-US" dirty="0" err="1"/>
              <a:t>regression</a:t>
            </a:r>
            <a:r>
              <a:rPr lang="it-IT" altLang="en-US" dirty="0"/>
              <a:t>, </a:t>
            </a:r>
            <a:r>
              <a:rPr lang="it-IT" altLang="en-US" dirty="0" err="1"/>
              <a:t>Boostrap</a:t>
            </a:r>
            <a:r>
              <a:rPr lang="it-IT" altLang="en-US" dirty="0"/>
              <a:t>, </a:t>
            </a:r>
            <a:r>
              <a:rPr lang="it-IT" altLang="en-US" dirty="0" err="1"/>
              <a:t>see</a:t>
            </a:r>
            <a:r>
              <a:rPr lang="it-IT" altLang="en-US" dirty="0"/>
              <a:t> available pdf on e-learning</a:t>
            </a:r>
            <a:endParaRPr lang="en-US" altLang="en-US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3362842E-17DF-4ACD-ACA1-073807289FCC}"/>
              </a:ext>
            </a:extLst>
          </p:cNvPr>
          <p:cNvSpPr/>
          <p:nvPr/>
        </p:nvSpPr>
        <p:spPr>
          <a:xfrm>
            <a:off x="5292080" y="3194658"/>
            <a:ext cx="318555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dirty="0">
                <a:hlinkClick r:id="rId3"/>
              </a:rPr>
              <a:t>https://www.statlearning.com/</a:t>
            </a:r>
            <a:endParaRPr lang="it-IT" dirty="0"/>
          </a:p>
          <a:p>
            <a:r>
              <a:rPr lang="it-IT" dirty="0"/>
              <a:t>Download the Second edition</a:t>
            </a:r>
          </a:p>
        </p:txBody>
      </p:sp>
    </p:spTree>
    <p:extLst>
      <p:ext uri="{BB962C8B-B14F-4D97-AF65-F5344CB8AC3E}">
        <p14:creationId xmlns:p14="http://schemas.microsoft.com/office/powerpoint/2010/main" val="54164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olo 1"/>
          <p:cNvSpPr>
            <a:spLocks noGrp="1"/>
          </p:cNvSpPr>
          <p:nvPr>
            <p:ph type="title"/>
          </p:nvPr>
        </p:nvSpPr>
        <p:spPr>
          <a:xfrm>
            <a:off x="395288" y="-25400"/>
            <a:ext cx="8229600" cy="646113"/>
          </a:xfrm>
        </p:spPr>
        <p:txBody>
          <a:bodyPr/>
          <a:lstStyle/>
          <a:p>
            <a:r>
              <a:rPr lang="en-US" altLang="en-US"/>
              <a:t>Materiale facoltativo in R</a:t>
            </a:r>
          </a:p>
        </p:txBody>
      </p:sp>
      <p:sp>
        <p:nvSpPr>
          <p:cNvPr id="11267" name="Rettangolo 4"/>
          <p:cNvSpPr>
            <a:spLocks noChangeArrowheads="1"/>
          </p:cNvSpPr>
          <p:nvPr/>
        </p:nvSpPr>
        <p:spPr bwMode="auto">
          <a:xfrm>
            <a:off x="1062038" y="692150"/>
            <a:ext cx="66055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A Handbook of Statistical Analyses Using R (3rd Edition) </a:t>
            </a:r>
          </a:p>
        </p:txBody>
      </p:sp>
      <p:pic>
        <p:nvPicPr>
          <p:cNvPr id="1126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82688"/>
            <a:ext cx="7239000" cy="567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9" name="Rettangolo 6"/>
          <p:cNvSpPr>
            <a:spLocks noChangeArrowheads="1"/>
          </p:cNvSpPr>
          <p:nvPr/>
        </p:nvSpPr>
        <p:spPr bwMode="auto">
          <a:xfrm>
            <a:off x="4211638" y="5084763"/>
            <a:ext cx="4638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/>
              <a:t>https://rdrr.io/cran/HSAUR3/</a:t>
            </a:r>
          </a:p>
        </p:txBody>
      </p:sp>
    </p:spTree>
    <p:extLst>
      <p:ext uri="{BB962C8B-B14F-4D97-AF65-F5344CB8AC3E}">
        <p14:creationId xmlns:p14="http://schemas.microsoft.com/office/powerpoint/2010/main" val="4042916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altLang="en-US"/>
              <a:t>Chapter to view</a:t>
            </a:r>
          </a:p>
        </p:txBody>
      </p:sp>
      <p:pic>
        <p:nvPicPr>
          <p:cNvPr id="1229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28588"/>
            <a:ext cx="3562350" cy="662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CasellaDiTesto 3"/>
          <p:cNvSpPr txBox="1">
            <a:spLocks noChangeArrowheads="1"/>
          </p:cNvSpPr>
          <p:nvPr/>
        </p:nvSpPr>
        <p:spPr bwMode="auto">
          <a:xfrm>
            <a:off x="2124075" y="-3175"/>
            <a:ext cx="3571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</a:t>
            </a:r>
            <a:endParaRPr lang="en-US" altLang="en-US" sz="1800"/>
          </a:p>
        </p:txBody>
      </p:sp>
      <p:sp>
        <p:nvSpPr>
          <p:cNvPr id="12293" name="CasellaDiTesto 5"/>
          <p:cNvSpPr txBox="1">
            <a:spLocks noChangeArrowheads="1"/>
          </p:cNvSpPr>
          <p:nvPr/>
        </p:nvSpPr>
        <p:spPr bwMode="auto">
          <a:xfrm>
            <a:off x="1900238" y="2492375"/>
            <a:ext cx="3571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</a:t>
            </a:r>
            <a:endParaRPr lang="en-US" altLang="en-US" sz="1800"/>
          </a:p>
        </p:txBody>
      </p:sp>
      <p:sp>
        <p:nvSpPr>
          <p:cNvPr id="12294" name="CasellaDiTesto 6"/>
          <p:cNvSpPr txBox="1">
            <a:spLocks noChangeArrowheads="1"/>
          </p:cNvSpPr>
          <p:nvPr/>
        </p:nvSpPr>
        <p:spPr bwMode="auto">
          <a:xfrm>
            <a:off x="2433638" y="2781300"/>
            <a:ext cx="3571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</a:t>
            </a:r>
            <a:endParaRPr lang="en-US" altLang="en-US" sz="1800"/>
          </a:p>
        </p:txBody>
      </p:sp>
      <p:sp>
        <p:nvSpPr>
          <p:cNvPr id="12295" name="CasellaDiTesto 7"/>
          <p:cNvSpPr txBox="1">
            <a:spLocks noChangeArrowheads="1"/>
          </p:cNvSpPr>
          <p:nvPr/>
        </p:nvSpPr>
        <p:spPr bwMode="auto">
          <a:xfrm>
            <a:off x="3779838" y="3073400"/>
            <a:ext cx="28463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  No poisson regression </a:t>
            </a:r>
            <a:endParaRPr lang="en-US" altLang="en-US" sz="1800"/>
          </a:p>
        </p:txBody>
      </p:sp>
      <p:sp>
        <p:nvSpPr>
          <p:cNvPr id="12296" name="CasellaDiTesto 8"/>
          <p:cNvSpPr txBox="1">
            <a:spLocks noChangeArrowheads="1"/>
          </p:cNvSpPr>
          <p:nvPr/>
        </p:nvSpPr>
        <p:spPr bwMode="auto">
          <a:xfrm>
            <a:off x="2051050" y="6464300"/>
            <a:ext cx="3571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</a:t>
            </a:r>
            <a:endParaRPr lang="en-US" altLang="en-US" sz="1800"/>
          </a:p>
        </p:txBody>
      </p:sp>
      <p:sp>
        <p:nvSpPr>
          <p:cNvPr id="12297" name="CasellaDiTesto 9"/>
          <p:cNvSpPr txBox="1">
            <a:spLocks noChangeArrowheads="1"/>
          </p:cNvSpPr>
          <p:nvPr/>
        </p:nvSpPr>
        <p:spPr bwMode="auto">
          <a:xfrm>
            <a:off x="2209800" y="4941888"/>
            <a:ext cx="29098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  For data mining module</a:t>
            </a:r>
            <a:endParaRPr lang="en-US" altLang="en-US" sz="1800"/>
          </a:p>
        </p:txBody>
      </p:sp>
      <p:sp>
        <p:nvSpPr>
          <p:cNvPr id="12298" name="CasellaDiTesto 10"/>
          <p:cNvSpPr txBox="1">
            <a:spLocks noChangeArrowheads="1"/>
          </p:cNvSpPr>
          <p:nvPr/>
        </p:nvSpPr>
        <p:spPr bwMode="auto">
          <a:xfrm>
            <a:off x="2124075" y="366713"/>
            <a:ext cx="16017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 No manova</a:t>
            </a: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2307593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olo 1"/>
          <p:cNvSpPr>
            <a:spLocks noGrp="1"/>
          </p:cNvSpPr>
          <p:nvPr>
            <p:ph type="title"/>
          </p:nvPr>
        </p:nvSpPr>
        <p:spPr>
          <a:xfrm>
            <a:off x="436563" y="30163"/>
            <a:ext cx="8229600" cy="649287"/>
          </a:xfrm>
        </p:spPr>
        <p:txBody>
          <a:bodyPr/>
          <a:lstStyle/>
          <a:p>
            <a:r>
              <a:rPr lang="en-US" altLang="en-US"/>
              <a:t>Free the second edition pdf</a:t>
            </a:r>
          </a:p>
        </p:txBody>
      </p:sp>
      <p:pic>
        <p:nvPicPr>
          <p:cNvPr id="133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1323975"/>
            <a:ext cx="7543800" cy="421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olo 1"/>
          <p:cNvSpPr txBox="1">
            <a:spLocks/>
          </p:cNvSpPr>
          <p:nvPr/>
        </p:nvSpPr>
        <p:spPr bwMode="auto">
          <a:xfrm>
            <a:off x="-4763" y="333375"/>
            <a:ext cx="9148763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2200" kern="0" dirty="0"/>
              <a:t>This is better (In the chapters there are also some brief theory details)</a:t>
            </a:r>
          </a:p>
        </p:txBody>
      </p:sp>
      <p:sp>
        <p:nvSpPr>
          <p:cNvPr id="13317" name="CasellaDiTesto 5"/>
          <p:cNvSpPr txBox="1">
            <a:spLocks noChangeArrowheads="1"/>
          </p:cNvSpPr>
          <p:nvPr/>
        </p:nvSpPr>
        <p:spPr bwMode="auto">
          <a:xfrm>
            <a:off x="2051050" y="1484313"/>
            <a:ext cx="4841875" cy="292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00"/>
              <a:t>A Handbook of Statistical Analyses Using R Second Edition pdf</a:t>
            </a:r>
          </a:p>
        </p:txBody>
      </p:sp>
      <p:pic>
        <p:nvPicPr>
          <p:cNvPr id="1331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563" y="1901825"/>
            <a:ext cx="6296025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Connettore 2 10"/>
          <p:cNvCxnSpPr/>
          <p:nvPr/>
        </p:nvCxnSpPr>
        <p:spPr>
          <a:xfrm>
            <a:off x="42863" y="3573463"/>
            <a:ext cx="720725" cy="64770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20" name="Rettangolo 11"/>
          <p:cNvSpPr>
            <a:spLocks noChangeArrowheads="1"/>
          </p:cNvSpPr>
          <p:nvPr/>
        </p:nvSpPr>
        <p:spPr bwMode="auto">
          <a:xfrm>
            <a:off x="6300788" y="3357563"/>
            <a:ext cx="2843212" cy="3492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00"/>
              <a:t>1 An Introduction to R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00"/>
              <a:t> 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00"/>
              <a:t>2 Data Analysis Using Graphical Displays 25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00"/>
              <a:t> 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00"/>
              <a:t>5 Analysis of Variance 79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00"/>
              <a:t> 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00"/>
              <a:t>6 Simple and Multiple Linear Regression 97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00"/>
              <a:t> 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00"/>
              <a:t>7 Logistic Regression and Generalised Linear Models 117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00"/>
              <a:t> 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00"/>
              <a:t>8 Density Estimation 139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00"/>
              <a:t> 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00"/>
              <a:t>10 Smoothers and Generalised Additive Models 177</a:t>
            </a:r>
          </a:p>
        </p:txBody>
      </p:sp>
      <p:cxnSp>
        <p:nvCxnSpPr>
          <p:cNvPr id="13" name="Connettore 2 12"/>
          <p:cNvCxnSpPr/>
          <p:nvPr/>
        </p:nvCxnSpPr>
        <p:spPr>
          <a:xfrm>
            <a:off x="5148263" y="5567363"/>
            <a:ext cx="936625" cy="11112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7403832"/>
      </p:ext>
    </p:extLst>
  </p:cSld>
  <p:clrMapOvr>
    <a:masterClrMapping/>
  </p:clrMapOvr>
</p:sld>
</file>

<file path=ppt/theme/theme1.xml><?xml version="1.0" encoding="utf-8"?>
<a:theme xmlns:a="http://schemas.openxmlformats.org/drawingml/2006/main" name="Struttura predefinita">
  <a:themeElements>
    <a:clrScheme name="Struttura predefini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ruttura predefinit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6572</TotalTime>
  <Words>737</Words>
  <Application>Microsoft Office PowerPoint</Application>
  <PresentationFormat>Presentazione su schermo (4:3)</PresentationFormat>
  <Paragraphs>89</Paragraphs>
  <Slides>12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7" baseType="lpstr">
      <vt:lpstr>Arial</vt:lpstr>
      <vt:lpstr>Calibri</vt:lpstr>
      <vt:lpstr>Symbol</vt:lpstr>
      <vt:lpstr>Times New Roman</vt:lpstr>
      <vt:lpstr>Struttura predefinita</vt:lpstr>
      <vt:lpstr>Sezione Data Mining</vt:lpstr>
      <vt:lpstr>Esame DM: orale su project work</vt:lpstr>
      <vt:lpstr>Dettaglio project work DM</vt:lpstr>
      <vt:lpstr>Dettaglio project work DM</vt:lpstr>
      <vt:lpstr>DATA per esame</vt:lpstr>
      <vt:lpstr>DATA per esame   Kaggle.com</vt:lpstr>
      <vt:lpstr>Non si accettano dataset quali</vt:lpstr>
      <vt:lpstr>TESTi da studiare</vt:lpstr>
      <vt:lpstr>TESTi da studiare</vt:lpstr>
      <vt:lpstr>Materiale facoltativo in R</vt:lpstr>
      <vt:lpstr>Chapter to view</vt:lpstr>
      <vt:lpstr>Free the second edition pdf</vt:lpstr>
    </vt:vector>
  </TitlesOfParts>
  <Company>dimequant.unimib.it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piergiorgio.lovaglio</dc:creator>
  <cp:lastModifiedBy>piergiorgio.lovaglio@unimib.it</cp:lastModifiedBy>
  <cp:revision>157</cp:revision>
  <cp:lastPrinted>2018-09-19T10:38:42Z</cp:lastPrinted>
  <dcterms:created xsi:type="dcterms:W3CDTF">2014-10-08T14:45:01Z</dcterms:created>
  <dcterms:modified xsi:type="dcterms:W3CDTF">2024-08-03T12:50:49Z</dcterms:modified>
</cp:coreProperties>
</file>